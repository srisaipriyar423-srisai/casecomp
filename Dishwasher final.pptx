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9" r:id="rId2"/>
    <p:sldId id="263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ED5FB-2966-476F-A251-0B84306E3069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8D6F0-79B5-4920-A80D-24ABA5B134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639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D6F0-79B5-4920-A80D-24ABA5B134C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548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01475-4284-18A2-A0C0-F82E9A8E6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5A555-C508-6BAC-DE8B-741A65683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8546E0-C1D5-84A4-FAA7-0C4B5B775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6B292-9E8D-1AFE-E6EC-133C3CAB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D6F0-79B5-4920-A80D-24ABA5B134C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975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ABA3F-4AFE-71E6-D90B-B2495F67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9751A-D7B4-A46B-165B-44B8CCFDB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2925E-1814-161F-8C72-8FE75F494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FD870-6696-5387-92A9-B314BF880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8D6F0-79B5-4920-A80D-24ABA5B134C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42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6A44E-DC71-2B88-BF26-A846F85AF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02F30-CD25-48C5-5844-2E3234D155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EC704-620A-B552-AECC-C091E8A0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CEBEA-457C-3699-25AC-60F9A92F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3F72A-CDCD-D067-9181-3C161D37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06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4873-3432-38EA-F784-79EC59F5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5A9A-2042-415E-7594-CBC7EC939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CB502-3FA2-4391-DB68-8AF282CD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11BB6-22C6-A05C-4254-10C653A3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A337B-4C86-124F-1A06-F2282EA0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7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B4E76-4DB6-EA8B-C98C-07445AF5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4F22D-CE39-5284-814C-231C69475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7EED-1806-68D1-9B6F-038F21216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E6ABB-A832-5A7B-CD68-8B0EF72D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1FC68-B4F9-9FD1-A39B-8BD394AA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1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7046C-7DE9-26F9-3D97-0E1A3D0E8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0F184-4293-26B3-4076-4870DC3ED9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AA4F4-CD67-62E9-1F09-DA8676DA1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12434-ED73-E179-87DE-8A530FC9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6BC50-9940-BA64-037B-DA5D8DFC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EC4AC-CECC-BD4B-58A8-B05FC8A7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39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0A7A3-7146-A0C0-6055-746C9529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F0AA9-B05E-0A23-7721-9A05D94C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E603E-BAD4-630E-903E-C79D3ADC5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25E41F-5F90-BC57-CD06-3F6EFB680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B4613-E974-5523-E6E6-CC35768BB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A67C2-F38B-9C1F-DD2D-813D1E82C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2A5DC-AE70-84D0-F83C-E930DB91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33217-DB64-861C-9F21-AB717EDF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41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D64F-00B3-7BA6-8435-61AF0CC79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B059DF-AF0B-ACFD-C5D0-1A1E7BA87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0E8EF-DBF3-6DAD-BBE1-A68FC320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B88F0-C40C-983D-6A75-13B76052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1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0565C-6028-0539-37F8-37FE4430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99DE3-F759-48F3-A771-40164A66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466B1-4F2A-95E9-7208-0A242B8C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401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1A5D-5302-607C-360A-26F2BB388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1D172-3E80-AA0D-DE16-D17532564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98ED1-4BFC-8133-3C37-527201C60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684B2-AA6B-BCF4-E504-DDC269EA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181A2-7657-71C1-3A97-957AE1704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39A55-8DDC-CD37-2BC5-03D577B5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96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BE40-2C60-F525-924A-A7D786DE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78CAA-3952-1496-F8A9-C1BB9A8306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4E45D-C50B-C28A-7E0B-7228F56B8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2D5C2-3F0B-C6AC-5A6E-55848BEDC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0155A-D6BB-6E93-3188-240EA103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F0981-D153-69B6-A2AD-FCCBE45C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29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60F69-4F7E-8A86-B87E-C81C26C6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C3E51-D61B-58B4-B4DF-F046EE3F6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A89AB-3D92-2E95-0860-65833638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73FD5-CF33-F75F-C614-AAA7D84F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BCB43-6D99-23A1-00C6-5BAA8FCC1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43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197E44-B0EA-56E7-02BF-1965152C1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9E4CD-BA9C-24C2-DACE-933D6844D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F9326-1EFF-5192-B379-6A05682F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C7C2E-2E32-414F-A1CA-CE245F369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072D7-B7FA-5714-A89F-BDC8220A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346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DA1FE-EC29-4BBA-D72B-3313F119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154F8-68F0-F72F-49FB-5D78B1DF6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35CD-12D8-9836-0D94-7B8967981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99CD7-AE72-460B-927C-666D676DC66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0E0BF-8D1C-2785-4D36-0076B2927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E0D8F-2AE9-24BF-BAF7-57357F21D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0FC75-C428-4B8D-A29F-FD09F86DAE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8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ebp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1.webp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webp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jpe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0B30E-3C9E-23F0-5134-B64622949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6BC5082-B3B2-93EF-EE36-257E9CCD7C70}"/>
              </a:ext>
            </a:extLst>
          </p:cNvPr>
          <p:cNvSpPr/>
          <p:nvPr/>
        </p:nvSpPr>
        <p:spPr>
          <a:xfrm>
            <a:off x="143429" y="450456"/>
            <a:ext cx="11924524" cy="605667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ECCA51-F411-484E-45A9-010DA2B49BE7}"/>
              </a:ext>
            </a:extLst>
          </p:cNvPr>
          <p:cNvSpPr txBox="1"/>
          <p:nvPr/>
        </p:nvSpPr>
        <p:spPr>
          <a:xfrm>
            <a:off x="297712" y="644763"/>
            <a:ext cx="11515060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        HOW WOULD YOU MAKE DISHWASHERS A HOUSEHOLD NECESSITY IN INDIA?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E0C6D8-C7DF-E1BE-1E26-A75EC93F77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28" y="745614"/>
            <a:ext cx="629293" cy="62929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F5BEFC-744F-05BF-FD5C-C51E4D80100E}"/>
              </a:ext>
            </a:extLst>
          </p:cNvPr>
          <p:cNvSpPr txBox="1"/>
          <p:nvPr/>
        </p:nvSpPr>
        <p:spPr>
          <a:xfrm>
            <a:off x="4008524" y="1824227"/>
            <a:ext cx="3712876" cy="40011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TEAM QUATTUOR NEXUS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F3785E-F429-F330-7FD3-5FDA19E11BC4}"/>
              </a:ext>
            </a:extLst>
          </p:cNvPr>
          <p:cNvSpPr/>
          <p:nvPr/>
        </p:nvSpPr>
        <p:spPr>
          <a:xfrm>
            <a:off x="3002967" y="2507962"/>
            <a:ext cx="2011127" cy="1462073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FD6BC6-7675-6C77-E7D3-D1E448E5BD47}"/>
              </a:ext>
            </a:extLst>
          </p:cNvPr>
          <p:cNvSpPr/>
          <p:nvPr/>
        </p:nvSpPr>
        <p:spPr>
          <a:xfrm>
            <a:off x="6556626" y="2504194"/>
            <a:ext cx="2011127" cy="1462073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760AA8-E94F-001D-5FA4-D2544ED6F40A}"/>
              </a:ext>
            </a:extLst>
          </p:cNvPr>
          <p:cNvSpPr/>
          <p:nvPr/>
        </p:nvSpPr>
        <p:spPr>
          <a:xfrm>
            <a:off x="3002966" y="4455538"/>
            <a:ext cx="2011127" cy="1462073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138352-22B7-C3B8-2032-61D5371EEE20}"/>
              </a:ext>
            </a:extLst>
          </p:cNvPr>
          <p:cNvSpPr/>
          <p:nvPr/>
        </p:nvSpPr>
        <p:spPr>
          <a:xfrm>
            <a:off x="6556625" y="4455537"/>
            <a:ext cx="2011127" cy="1462073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20B919F-F82A-F145-07EE-5A65F5CA53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1" t="6015" r="5046" b="11056"/>
          <a:stretch>
            <a:fillRect/>
          </a:stretch>
        </p:blipFill>
        <p:spPr>
          <a:xfrm>
            <a:off x="3343989" y="4585540"/>
            <a:ext cx="1329071" cy="95402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79C1F73-4B5B-C973-01E1-E62A60AF1E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6675" y="4585540"/>
            <a:ext cx="1190806" cy="95402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35BCB78-C533-38AD-8BE8-0CA5B3399A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531" y="2577659"/>
            <a:ext cx="1024768" cy="107194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A59F94F-BC92-42BC-1BDD-48D0F7597A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9895"/>
          <a:stretch>
            <a:fillRect/>
          </a:stretch>
        </p:blipFill>
        <p:spPr>
          <a:xfrm>
            <a:off x="6926890" y="2604125"/>
            <a:ext cx="1326497" cy="102866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2024872-9AF7-5ED6-C0D3-17158D147E40}"/>
              </a:ext>
            </a:extLst>
          </p:cNvPr>
          <p:cNvSpPr txBox="1"/>
          <p:nvPr/>
        </p:nvSpPr>
        <p:spPr>
          <a:xfrm>
            <a:off x="2997353" y="3700130"/>
            <a:ext cx="2011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AMEE ABHILASH DESAI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6A3B88-7F8A-44CA-BC7C-CC9F5C2CB6B6}"/>
              </a:ext>
            </a:extLst>
          </p:cNvPr>
          <p:cNvSpPr txBox="1"/>
          <p:nvPr/>
        </p:nvSpPr>
        <p:spPr>
          <a:xfrm>
            <a:off x="2997352" y="5590087"/>
            <a:ext cx="2011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SAIPRIYA R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8408FC-F77A-91E9-F122-6722AA94EDF6}"/>
              </a:ext>
            </a:extLst>
          </p:cNvPr>
          <p:cNvSpPr txBox="1"/>
          <p:nvPr/>
        </p:nvSpPr>
        <p:spPr>
          <a:xfrm>
            <a:off x="6556625" y="3689498"/>
            <a:ext cx="2011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HARSHRAJ DESHMUKH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F5B9B2-8748-84AB-E7A5-E231DA1EA4FC}"/>
              </a:ext>
            </a:extLst>
          </p:cNvPr>
          <p:cNvSpPr txBox="1"/>
          <p:nvPr/>
        </p:nvSpPr>
        <p:spPr>
          <a:xfrm>
            <a:off x="6551011" y="5583902"/>
            <a:ext cx="20111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UTKARSH KUMAR JHA</a:t>
            </a:r>
          </a:p>
        </p:txBody>
      </p:sp>
    </p:spTree>
    <p:extLst>
      <p:ext uri="{BB962C8B-B14F-4D97-AF65-F5344CB8AC3E}">
        <p14:creationId xmlns:p14="http://schemas.microsoft.com/office/powerpoint/2010/main" val="185823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B211C-778B-8E7E-BF38-B6EC9824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AB088D-BFE1-8B67-90FF-ECC1D6D32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1" y="89898"/>
            <a:ext cx="629293" cy="629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7B88B8-C2B6-912F-EF07-E01398D642C4}"/>
              </a:ext>
            </a:extLst>
          </p:cNvPr>
          <p:cNvSpPr txBox="1"/>
          <p:nvPr/>
        </p:nvSpPr>
        <p:spPr>
          <a:xfrm>
            <a:off x="940084" y="184695"/>
            <a:ext cx="1030498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WOULD YOU MAKE DISHWASHERS A HOUSEHOLD NECESSITY IN INDIA?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C6CA7-030D-2C49-04C9-F437774BCC07}"/>
              </a:ext>
            </a:extLst>
          </p:cNvPr>
          <p:cNvSpPr/>
          <p:nvPr/>
        </p:nvSpPr>
        <p:spPr>
          <a:xfrm>
            <a:off x="200135" y="635100"/>
            <a:ext cx="3807858" cy="28313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dishwasher is 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appliance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clean utensils using water, detergent, and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temperature (60–70°C)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hygiene.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10–15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liters vs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60–100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manual washing.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&lt;2%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 penetration in India,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high-income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591369-8424-174C-36BD-712D2D6CC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36" y="3588456"/>
            <a:ext cx="3807857" cy="29718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F9BF88E-F76B-6EDC-4790-950F01FB605C}"/>
              </a:ext>
            </a:extLst>
          </p:cNvPr>
          <p:cNvSpPr/>
          <p:nvPr/>
        </p:nvSpPr>
        <p:spPr>
          <a:xfrm>
            <a:off x="4155343" y="635100"/>
            <a:ext cx="3807858" cy="283138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Efficiency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Hygiene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Saving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Benefits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and Reduced Effort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Cleaning Quality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Rinsing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34CAF3-66D1-C5AC-50C7-615AD8D8545C}"/>
              </a:ext>
            </a:extLst>
          </p:cNvPr>
          <p:cNvSpPr/>
          <p:nvPr/>
        </p:nvSpPr>
        <p:spPr>
          <a:xfrm>
            <a:off x="4147790" y="3588456"/>
            <a:ext cx="3807857" cy="29718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Upfront Price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 for Manual Dishwashing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perceived ROI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D974F8-BD6A-8F9F-BB4C-A68CC7715599}"/>
              </a:ext>
            </a:extLst>
          </p:cNvPr>
          <p:cNvSpPr/>
          <p:nvPr/>
        </p:nvSpPr>
        <p:spPr>
          <a:xfrm>
            <a:off x="8086374" y="642350"/>
            <a:ext cx="3807858" cy="28313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&amp; Perception Gap-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Seen as luxury appliance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 &amp; Maid Dependency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Fit for Indian Kitchens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&amp; Infrastructure Constraints-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size: ~60×60×82–85 cm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CCC868-7A82-FC57-B39F-B9500548F89A}"/>
              </a:ext>
            </a:extLst>
          </p:cNvPr>
          <p:cNvSpPr/>
          <p:nvPr/>
        </p:nvSpPr>
        <p:spPr>
          <a:xfrm>
            <a:off x="8063716" y="3585709"/>
            <a:ext cx="3807858" cy="2971801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A21F2-6FBA-437A-4A49-40B5396086C9}"/>
              </a:ext>
            </a:extLst>
          </p:cNvPr>
          <p:cNvSpPr txBox="1"/>
          <p:nvPr/>
        </p:nvSpPr>
        <p:spPr>
          <a:xfrm>
            <a:off x="281218" y="743657"/>
            <a:ext cx="3595379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DISHWASHER IN INDIA- INTRODUCTION &amp; HISTORY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986AA-5A52-734F-8D72-C8D4F27A73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676" y="2431810"/>
            <a:ext cx="760162" cy="760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66BC45-953F-A304-238C-790AB8B48042}"/>
              </a:ext>
            </a:extLst>
          </p:cNvPr>
          <p:cNvSpPr txBox="1"/>
          <p:nvPr/>
        </p:nvSpPr>
        <p:spPr>
          <a:xfrm>
            <a:off x="320426" y="2572274"/>
            <a:ext cx="2617983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AD3A5-872D-325E-5978-0CA8A06E21B1}"/>
              </a:ext>
            </a:extLst>
          </p:cNvPr>
          <p:cNvSpPr txBox="1"/>
          <p:nvPr/>
        </p:nvSpPr>
        <p:spPr>
          <a:xfrm>
            <a:off x="320425" y="3730911"/>
            <a:ext cx="356577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IN INDIA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3E2841-EC7F-B349-8149-590FBDD957BD}"/>
              </a:ext>
            </a:extLst>
          </p:cNvPr>
          <p:cNvSpPr txBox="1"/>
          <p:nvPr/>
        </p:nvSpPr>
        <p:spPr>
          <a:xfrm>
            <a:off x="308870" y="4164184"/>
            <a:ext cx="1794444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Early 2000s</a:t>
            </a: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L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uxury </a:t>
            </a:r>
            <a:r>
              <a:rPr lang="en-US" sz="12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ositioning-</a:t>
            </a: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Premium Brands (Bosch, IFB) 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2005–2018: Slow Growth- </a:t>
            </a:r>
            <a:r>
              <a:rPr lang="en-US" sz="1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Slo</a:t>
            </a: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 awareness. </a:t>
            </a:r>
            <a:endParaRPr lang="en-US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Post-2020: Growth</a:t>
            </a:r>
            <a:r>
              <a:rPr lang="en-US" sz="1200" b="1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</a:t>
            </a:r>
            <a:r>
              <a:rPr lang="en-US" sz="12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Post Covid Hygiene</a:t>
            </a:r>
            <a:endParaRPr lang="en-IN" sz="1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CA07393-7774-602D-A8D5-821507663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0" t="27153" r="35558" b="34088"/>
          <a:stretch>
            <a:fillRect/>
          </a:stretch>
        </p:blipFill>
        <p:spPr bwMode="auto">
          <a:xfrm>
            <a:off x="2204193" y="5856551"/>
            <a:ext cx="1553217" cy="55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16016A5-A234-AEBF-5CE1-267469124347}"/>
              </a:ext>
            </a:extLst>
          </p:cNvPr>
          <p:cNvSpPr txBox="1"/>
          <p:nvPr/>
        </p:nvSpPr>
        <p:spPr>
          <a:xfrm>
            <a:off x="4315145" y="765705"/>
            <a:ext cx="3554857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USING DISHWASHER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62FAFD2-EB0A-408B-858D-E6AADE50C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026" y="1524858"/>
            <a:ext cx="1120496" cy="112049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D896132-D62C-3530-B6F7-CF2898BA7B75}"/>
              </a:ext>
            </a:extLst>
          </p:cNvPr>
          <p:cNvSpPr txBox="1"/>
          <p:nvPr/>
        </p:nvSpPr>
        <p:spPr>
          <a:xfrm>
            <a:off x="4282245" y="3666431"/>
            <a:ext cx="3554054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USING DISHWASHER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0AC121-9D96-E513-6F6F-2F48E0E236ED}"/>
              </a:ext>
            </a:extLst>
          </p:cNvPr>
          <p:cNvSpPr txBox="1"/>
          <p:nvPr/>
        </p:nvSpPr>
        <p:spPr>
          <a:xfrm>
            <a:off x="8157987" y="765704"/>
            <a:ext cx="3226084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ADOPTING TO DISHWASHER IN INDIA</a:t>
            </a:r>
          </a:p>
        </p:txBody>
      </p:sp>
      <p:pic>
        <p:nvPicPr>
          <p:cNvPr id="3094" name="Picture 22">
            <a:extLst>
              <a:ext uri="{FF2B5EF4-FFF2-40B4-BE49-F238E27FC236}">
                <a16:creationId xmlns:a16="http://schemas.microsoft.com/office/drawing/2014/main" id="{2959EDB5-1C6E-0EB4-E730-CDCA713EFF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24" b="51666"/>
          <a:stretch>
            <a:fillRect/>
          </a:stretch>
        </p:blipFill>
        <p:spPr bwMode="auto">
          <a:xfrm>
            <a:off x="8216890" y="3722470"/>
            <a:ext cx="2073036" cy="105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>
            <a:extLst>
              <a:ext uri="{FF2B5EF4-FFF2-40B4-BE49-F238E27FC236}">
                <a16:creationId xmlns:a16="http://schemas.microsoft.com/office/drawing/2014/main" id="{F27A5BAB-4FFA-993D-C17D-0AC5CD3367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9" t="1074" r="25150" b="13463"/>
          <a:stretch>
            <a:fillRect/>
          </a:stretch>
        </p:blipFill>
        <p:spPr bwMode="auto">
          <a:xfrm>
            <a:off x="1962966" y="4267065"/>
            <a:ext cx="1860948" cy="1652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3EFC3AE8-17EA-112F-3337-EA55A521E5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4282" y="2776347"/>
            <a:ext cx="547099" cy="54709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DEB5B05-B40F-F062-B112-1B8BB70B68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2190" y="5429794"/>
            <a:ext cx="788471" cy="78847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DFFD641-F260-B82A-FC8E-2673606B30C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08376" y="4373178"/>
            <a:ext cx="514389" cy="514389"/>
          </a:xfrm>
          <a:prstGeom prst="rect">
            <a:avLst/>
          </a:prstGeom>
        </p:spPr>
      </p:pic>
      <p:pic>
        <p:nvPicPr>
          <p:cNvPr id="3100" name="Picture 28">
            <a:extLst>
              <a:ext uri="{FF2B5EF4-FFF2-40B4-BE49-F238E27FC236}">
                <a16:creationId xmlns:a16="http://schemas.microsoft.com/office/drawing/2014/main" id="{A744C200-0728-72BA-83D7-774615DCE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" t="73873" r="-225" b="329"/>
          <a:stretch>
            <a:fillRect/>
          </a:stretch>
        </p:blipFill>
        <p:spPr bwMode="auto">
          <a:xfrm>
            <a:off x="4494033" y="5446414"/>
            <a:ext cx="2224163" cy="84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32">
            <a:extLst>
              <a:ext uri="{FF2B5EF4-FFF2-40B4-BE49-F238E27FC236}">
                <a16:creationId xmlns:a16="http://schemas.microsoft.com/office/drawing/2014/main" id="{16B38E83-E6A6-706F-0F65-D2031A6A8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4" t="23601" r="7188" b="808"/>
          <a:stretch>
            <a:fillRect/>
          </a:stretch>
        </p:blipFill>
        <p:spPr bwMode="auto">
          <a:xfrm>
            <a:off x="10397995" y="4998930"/>
            <a:ext cx="1410028" cy="132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1EC9AB7-DD93-6B62-86E1-9F95F4D9156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07720" y="809816"/>
            <a:ext cx="540663" cy="54066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2A5400F-757F-D349-D901-682A5EEB894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80513" y="3758106"/>
            <a:ext cx="1008975" cy="1008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65569B-02D3-5709-2DAF-6775BC1D54C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636" y="5011222"/>
            <a:ext cx="2020290" cy="13960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64D441-77C5-0498-A916-8C56DB45759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64830" y="2654300"/>
            <a:ext cx="680234" cy="6802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9725D4-67BA-6217-DEEF-D7E9DA7DE6C5}"/>
              </a:ext>
            </a:extLst>
          </p:cNvPr>
          <p:cNvSpPr txBox="1"/>
          <p:nvPr/>
        </p:nvSpPr>
        <p:spPr>
          <a:xfrm>
            <a:off x="198962" y="6617807"/>
            <a:ext cx="117924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   TechsciResearch, LinkedIn, Research and Markets, EPAWaterSense, Statista, Bosch, Economic Times, Choice Australia, Bajaj FinServ, General Appliance Research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1816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ADC2-EC4B-6EAB-5380-13BF435D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753B56-B240-3BEF-5E7F-F1A97316E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41" y="89898"/>
            <a:ext cx="629293" cy="629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993C1F-75C6-42EE-B1B0-4F0F92397421}"/>
              </a:ext>
            </a:extLst>
          </p:cNvPr>
          <p:cNvSpPr txBox="1"/>
          <p:nvPr/>
        </p:nvSpPr>
        <p:spPr>
          <a:xfrm>
            <a:off x="940084" y="184695"/>
            <a:ext cx="1030498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WOULD YOU MAKE DISHWASHERS A HOUSEHOLD NECESSITY IN INDIA?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15EC9-A1A4-A37A-DD77-1E2A09BC86BD}"/>
              </a:ext>
            </a:extLst>
          </p:cNvPr>
          <p:cNvSpPr/>
          <p:nvPr/>
        </p:nvSpPr>
        <p:spPr>
          <a:xfrm>
            <a:off x="185800" y="708516"/>
            <a:ext cx="3807858" cy="274563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nuclear families &amp; dual-income couples -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demand driver.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Premium apartment residents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kitchen penetration.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High water-scarcity urban households   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10–15 L/cycle vs. 40–60 L/cycle.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Elderly &amp; maid-dependent households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declining domestic help availability.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A9197A-79B3-E62B-BB97-AAA82C904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38" y="3532100"/>
            <a:ext cx="3807857" cy="29718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419602-5F5E-61E3-4587-B85EBC274CDE}"/>
              </a:ext>
            </a:extLst>
          </p:cNvPr>
          <p:cNvSpPr/>
          <p:nvPr/>
        </p:nvSpPr>
        <p:spPr>
          <a:xfrm>
            <a:off x="4165875" y="708516"/>
            <a:ext cx="7804276" cy="378718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Courier New" panose="02070309020205020404" pitchFamily="49" charset="0"/>
              <a:buChar char="o"/>
            </a:pPr>
            <a:endParaRPr lang="en-US" sz="1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0D3B7-21DF-60C5-B4F3-ECDE8DD211FE}"/>
              </a:ext>
            </a:extLst>
          </p:cNvPr>
          <p:cNvSpPr/>
          <p:nvPr/>
        </p:nvSpPr>
        <p:spPr>
          <a:xfrm>
            <a:off x="4177520" y="4579122"/>
            <a:ext cx="3807857" cy="193675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6D106B-6A90-11F3-22AD-C78E681F0906}"/>
              </a:ext>
            </a:extLst>
          </p:cNvPr>
          <p:cNvSpPr/>
          <p:nvPr/>
        </p:nvSpPr>
        <p:spPr>
          <a:xfrm>
            <a:off x="8169506" y="4571606"/>
            <a:ext cx="3807858" cy="1944268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Health Impact Reduction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Cognitive Load Reduction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Labor to Technology Shift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Environmental Sustainability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Economic Productivity Impact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90CF6-82C6-4701-61AF-7EA526EA4417}"/>
              </a:ext>
            </a:extLst>
          </p:cNvPr>
          <p:cNvSpPr txBox="1"/>
          <p:nvPr/>
        </p:nvSpPr>
        <p:spPr>
          <a:xfrm>
            <a:off x="320426" y="809090"/>
            <a:ext cx="3503488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SEGMENTS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63651-AB95-8692-5653-78E4902753B2}"/>
              </a:ext>
            </a:extLst>
          </p:cNvPr>
          <p:cNvSpPr txBox="1"/>
          <p:nvPr/>
        </p:nvSpPr>
        <p:spPr>
          <a:xfrm>
            <a:off x="320426" y="3686589"/>
            <a:ext cx="3503488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INVOLVED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626732-E87C-733F-F3F7-C2C57BB78584}"/>
              </a:ext>
            </a:extLst>
          </p:cNvPr>
          <p:cNvSpPr txBox="1"/>
          <p:nvPr/>
        </p:nvSpPr>
        <p:spPr>
          <a:xfrm>
            <a:off x="278623" y="4023939"/>
            <a:ext cx="34750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brands &amp; retailer ---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IFB, Bosch, LG.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Banks &amp; fin-techs (EMI enablers)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pricing, discounts, and EMI options.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Builders &amp; RWAs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pre-integration into modular kitchens, retrofitting in standard Indian kitchens.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Government &amp; water bodies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Jal Jeevan Mission</a:t>
            </a:r>
            <a:endParaRPr lang="en-IN" sz="14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227A2E-BD31-7F74-AEA8-C0F103404FFA}"/>
              </a:ext>
            </a:extLst>
          </p:cNvPr>
          <p:cNvSpPr txBox="1"/>
          <p:nvPr/>
        </p:nvSpPr>
        <p:spPr>
          <a:xfrm>
            <a:off x="4266583" y="717482"/>
            <a:ext cx="7602862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NIRMAAN FRAMEWORK</a:t>
            </a:r>
          </a:p>
          <a:p>
            <a:pPr algn="ctr"/>
            <a:r>
              <a:rPr lang="en-US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"From Reluctance to Routine: Making Dishwashers an Indian Essential"</a:t>
            </a:r>
            <a:endParaRPr lang="en-IN" sz="16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63FC7-80B9-CD2D-6F55-E475A89DDEF8}"/>
              </a:ext>
            </a:extLst>
          </p:cNvPr>
          <p:cNvSpPr txBox="1"/>
          <p:nvPr/>
        </p:nvSpPr>
        <p:spPr>
          <a:xfrm>
            <a:off x="4315547" y="4653579"/>
            <a:ext cx="3554054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EED809-B970-FEFA-FF3C-D5D5E1BF5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157" y="2826372"/>
            <a:ext cx="488366" cy="48836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0E88997-4DFD-E34D-4967-8238E4241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156" y="1646515"/>
            <a:ext cx="488367" cy="4883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A4857A1-8530-9870-3175-5C2324F679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675" y="4110676"/>
            <a:ext cx="616186" cy="61618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9E3CCFA-DCE3-CD5D-2346-74222A90446A}"/>
              </a:ext>
            </a:extLst>
          </p:cNvPr>
          <p:cNvSpPr txBox="1"/>
          <p:nvPr/>
        </p:nvSpPr>
        <p:spPr>
          <a:xfrm>
            <a:off x="4294244" y="5051730"/>
            <a:ext cx="15431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home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conservation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and effort saving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Hygiene consistency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A143C31-A83C-D65A-D36B-6FFF4E2ABDEF}"/>
              </a:ext>
            </a:extLst>
          </p:cNvPr>
          <p:cNvSpPr txBox="1"/>
          <p:nvPr/>
        </p:nvSpPr>
        <p:spPr>
          <a:xfrm>
            <a:off x="5837351" y="5011033"/>
            <a:ext cx="21480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market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Growth acceleration.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Adoption Readiness.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Work-life convenience impact.</a:t>
            </a:r>
          </a:p>
          <a:p>
            <a:pPr marL="342900" indent="-342900">
              <a:buAutoNum type="arabicPeriod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Appliance Ecosystem Expansion.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710628-61E0-D4D3-327D-F8D6B450F434}"/>
              </a:ext>
            </a:extLst>
          </p:cNvPr>
          <p:cNvSpPr txBox="1"/>
          <p:nvPr/>
        </p:nvSpPr>
        <p:spPr>
          <a:xfrm>
            <a:off x="8239181" y="4628396"/>
            <a:ext cx="3554054" cy="33855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F11FA02-F1B2-DBD4-D597-AC77015B6359}"/>
              </a:ext>
            </a:extLst>
          </p:cNvPr>
          <p:cNvCxnSpPr>
            <a:cxnSpLocks/>
          </p:cNvCxnSpPr>
          <p:nvPr/>
        </p:nvCxnSpPr>
        <p:spPr>
          <a:xfrm>
            <a:off x="5838197" y="5086028"/>
            <a:ext cx="0" cy="1289141"/>
          </a:xfrm>
          <a:prstGeom prst="line">
            <a:avLst/>
          </a:prstGeom>
          <a:ln>
            <a:solidFill>
              <a:schemeClr val="tx1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AC79C8AB-59E1-4676-3918-08C5C55ECA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42712" y="5042852"/>
            <a:ext cx="739741" cy="656212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9F0E4C2-9949-7B87-2963-CA923088EC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7899" y="5807743"/>
            <a:ext cx="503433" cy="503433"/>
          </a:xfrm>
          <a:prstGeom prst="rect">
            <a:avLst/>
          </a:prstGeom>
        </p:spPr>
      </p:pic>
      <p:pic>
        <p:nvPicPr>
          <p:cNvPr id="3073" name="Picture 3072">
            <a:extLst>
              <a:ext uri="{FF2B5EF4-FFF2-40B4-BE49-F238E27FC236}">
                <a16:creationId xmlns:a16="http://schemas.microsoft.com/office/drawing/2014/main" id="{4293357F-D4CB-67E8-A1FC-2C058C6F90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57356" y="5737192"/>
            <a:ext cx="573984" cy="5739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FB6735-F957-47A0-0B5B-D2064D048CD0}"/>
              </a:ext>
            </a:extLst>
          </p:cNvPr>
          <p:cNvSpPr txBox="1"/>
          <p:nvPr/>
        </p:nvSpPr>
        <p:spPr>
          <a:xfrm>
            <a:off x="129351" y="6581852"/>
            <a:ext cx="119041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GlobeNewswire, Bonafide Research, ScienceDirect, Maximize Market Research, IMARC group, IJRISS, Euromonitor, KenResearch, Schencking &amp;Stamminger, OECD, WHO. 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A19841-ABD3-2355-E1EE-7E635A0C96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" r="2578"/>
          <a:stretch>
            <a:fillRect/>
          </a:stretch>
        </p:blipFill>
        <p:spPr>
          <a:xfrm>
            <a:off x="4266582" y="1342535"/>
            <a:ext cx="7564757" cy="303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444</Words>
  <Application>Microsoft Office PowerPoint</Application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Saipriya Raviprakash</dc:creator>
  <cp:lastModifiedBy>Saipriya Raviprakash</cp:lastModifiedBy>
  <cp:revision>7</cp:revision>
  <dcterms:created xsi:type="dcterms:W3CDTF">2026-04-26T00:32:38Z</dcterms:created>
  <dcterms:modified xsi:type="dcterms:W3CDTF">2026-04-27T16:41:12Z</dcterms:modified>
</cp:coreProperties>
</file>